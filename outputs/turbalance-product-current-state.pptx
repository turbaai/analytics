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3f6fdaef9c4a19" /><Relationship Type="http://schemas.openxmlformats.org/officeDocument/2006/relationships/extended-properties" Target="/docProps/app.xml" Id="Raaa99cad4b614893" /><Relationship Type="http://schemas.openxmlformats.org/officeDocument/2006/relationships/officeDocument" Target="/ppt/presentation.xml" Id="R3a5c393701464f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d8db81f3fc4cb8"/>
  </p:sldMasterIdLst>
  <p:notesMasterIdLst>
    <p:notesMasterId xmlns:r="http://schemas.openxmlformats.org/officeDocument/2006/relationships" r:id="R56b241f57a134f3d"/>
  </p:notesMasterIdLst>
  <p:sldIdLst>
    <p:sldId xmlns:r="http://schemas.openxmlformats.org/officeDocument/2006/relationships" id="256" r:id="R58cba1da3a1b402a"/>
    <p:sldId xmlns:r="http://schemas.openxmlformats.org/officeDocument/2006/relationships" id="257" r:id="R62888bc2d6bb4b51"/>
    <p:sldId xmlns:r="http://schemas.openxmlformats.org/officeDocument/2006/relationships" id="258" r:id="R5e79aec351594dba"/>
    <p:sldId xmlns:r="http://schemas.openxmlformats.org/officeDocument/2006/relationships" id="259" r:id="R8fb67071cbbe4642"/>
    <p:sldId xmlns:r="http://schemas.openxmlformats.org/officeDocument/2006/relationships" id="260" r:id="Ra8c4e8165b354238"/>
    <p:sldId xmlns:r="http://schemas.openxmlformats.org/officeDocument/2006/relationships" id="261" r:id="R05da82563402445f"/>
    <p:sldId xmlns:r="http://schemas.openxmlformats.org/officeDocument/2006/relationships" id="262" r:id="Rb8e176646f62456d"/>
    <p:sldId xmlns:r="http://schemas.openxmlformats.org/officeDocument/2006/relationships" id="263" r:id="Ra65efbf52f4a4b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753b79f59a47a2" /><Relationship Type="http://schemas.openxmlformats.org/officeDocument/2006/relationships/slideMaster" Target="/ppt/slideMasters/slideMaster1.xml" Id="R0ad8db81f3fc4cb8" /><Relationship Type="http://schemas.openxmlformats.org/officeDocument/2006/relationships/notesMaster" Target="/ppt/notesMasters/notesMaster1.xml" Id="R56b241f57a134f3d" /><Relationship Type="http://schemas.openxmlformats.org/officeDocument/2006/relationships/presProps" Target="/ppt/presProps.xml" Id="R459130d0191c4f5b" /><Relationship Type="http://schemas.openxmlformats.org/officeDocument/2006/relationships/tableStyles" Target="/ppt/tableStyles.xml" Id="R4db4ab0de4794e86" /><Relationship Type="http://schemas.openxmlformats.org/officeDocument/2006/relationships/slide" Target="/ppt/slides/slide1.xml" Id="R58cba1da3a1b402a" /><Relationship Type="http://schemas.openxmlformats.org/officeDocument/2006/relationships/slide" Target="/ppt/slides/slide2.xml" Id="R62888bc2d6bb4b51" /><Relationship Type="http://schemas.openxmlformats.org/officeDocument/2006/relationships/slide" Target="/ppt/slides/slide3.xml" Id="R5e79aec351594dba" /><Relationship Type="http://schemas.openxmlformats.org/officeDocument/2006/relationships/slide" Target="/ppt/slides/slide4.xml" Id="R8fb67071cbbe4642" /><Relationship Type="http://schemas.openxmlformats.org/officeDocument/2006/relationships/slide" Target="/ppt/slides/slide5.xml" Id="Ra8c4e8165b354238" /><Relationship Type="http://schemas.openxmlformats.org/officeDocument/2006/relationships/slide" Target="/ppt/slides/slide6.xml" Id="R05da82563402445f" /><Relationship Type="http://schemas.openxmlformats.org/officeDocument/2006/relationships/slide" Target="/ppt/slides/slide7.xml" Id="Rb8e176646f62456d" /><Relationship Type="http://schemas.openxmlformats.org/officeDocument/2006/relationships/slide" Target="/ppt/slides/slide8.xml" Id="Ra65efbf52f4a4b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aa7540f90e4e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31e8cd8ee04569" /><Relationship Type="http://schemas.openxmlformats.org/officeDocument/2006/relationships/notesMaster" Target="/ppt/notesMasters/notesMaster1.xml" Id="R30810706b2e042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f2222909734028" /><Relationship Type="http://schemas.openxmlformats.org/officeDocument/2006/relationships/notesMaster" Target="/ppt/notesMasters/notesMaster1.xml" Id="R252bb8fa854c4a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33d3edbf044218" /><Relationship Type="http://schemas.openxmlformats.org/officeDocument/2006/relationships/notesMaster" Target="/ppt/notesMasters/notesMaster1.xml" Id="R667dc68dc51a4a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10406f21314628" /><Relationship Type="http://schemas.openxmlformats.org/officeDocument/2006/relationships/notesMaster" Target="/ppt/notesMasters/notesMaster1.xml" Id="R5a0350fc86814c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d19d4faf1741a6" /><Relationship Type="http://schemas.openxmlformats.org/officeDocument/2006/relationships/notesMaster" Target="/ppt/notesMasters/notesMaster1.xml" Id="Rbebce636729f4b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65ae5adb9b44fc" /><Relationship Type="http://schemas.openxmlformats.org/officeDocument/2006/relationships/notesMaster" Target="/ppt/notesMasters/notesMaster1.xml" Id="R1e69056b9ad64c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55a50b52594baf" /><Relationship Type="http://schemas.openxmlformats.org/officeDocument/2006/relationships/notesMaster" Target="/ppt/notesMasters/notesMaster1.xml" Id="R8f4a3be3837a4b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70a0c44fad4f2f" /><Relationship Type="http://schemas.openxmlformats.org/officeDocument/2006/relationships/notesMaster" Target="/ppt/notesMasters/notesMaster1.xml" Id="Rd8a9225b47e34b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271e2a2c9c43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8006f4e0264b0d" /><Relationship Type="http://schemas.openxmlformats.org/officeDocument/2006/relationships/slideLayout" Target="/ppt/slideLayouts/slideLayout1.xml" Id="Rdaaa08e9ddc543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aa08e9ddc543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bf53ec9d141cb" /><Relationship Type="http://schemas.openxmlformats.org/officeDocument/2006/relationships/image" Target="/ppt/media/image.png" Id="R851e352558f24723" /><Relationship Type="http://schemas.openxmlformats.org/officeDocument/2006/relationships/image" Target="/ppt/media/image2.png" Id="Rfc824753b1194ab0" /><Relationship Type="http://schemas.openxmlformats.org/officeDocument/2006/relationships/notesSlide" Target="/ppt/notesSlides/notesSlide1.xml" Id="Rc78dae3956174d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8323995984676" /><Relationship Type="http://schemas.openxmlformats.org/officeDocument/2006/relationships/notesSlide" Target="/ppt/notesSlides/notesSlide2.xml" Id="R428ae948e8cf48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bfedd3eb74295" /><Relationship Type="http://schemas.openxmlformats.org/officeDocument/2006/relationships/image" Target="/ppt/media/image3.png" Id="R6712d23de8674817" /><Relationship Type="http://schemas.openxmlformats.org/officeDocument/2006/relationships/image" Target="/ppt/media/image4.png" Id="Rb3a593db1ebc4d02" /><Relationship Type="http://schemas.openxmlformats.org/officeDocument/2006/relationships/notesSlide" Target="/ppt/notesSlides/notesSlide3.xml" Id="R701662a4f1164e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73d76120e4b57" /><Relationship Type="http://schemas.openxmlformats.org/officeDocument/2006/relationships/image" Target="/ppt/media/image5.png" Id="R92d0ba96e1c0409e" /><Relationship Type="http://schemas.openxmlformats.org/officeDocument/2006/relationships/notesSlide" Target="/ppt/notesSlides/notesSlide4.xml" Id="R1a828ad155c144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209b9ca684368" /><Relationship Type="http://schemas.openxmlformats.org/officeDocument/2006/relationships/notesSlide" Target="/ppt/notesSlides/notesSlide5.xml" Id="R0dc4399a499347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6239ef7164359" /><Relationship Type="http://schemas.openxmlformats.org/officeDocument/2006/relationships/notesSlide" Target="/ppt/notesSlides/notesSlide6.xml" Id="Rd0069104e50b46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13ea05ba14aca" /><Relationship Type="http://schemas.openxmlformats.org/officeDocument/2006/relationships/notesSlide" Target="/ppt/notesSlides/notesSlide7.xml" Id="Rb79418005dff43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cd8226b8e40dc" /><Relationship Type="http://schemas.openxmlformats.org/officeDocument/2006/relationships/notesSlide" Target="/ppt/notesSlides/notesSlide8.xml" Id="R7873db48bba647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96B11B-C1DA-475C-83B0-6C806642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32023"/>
                </a:solidFill>
              </a:defRPr>
            </a:pPr>
            <a:r>
              <a:rPr sz="2550" b="1">
                <a:solidFill>
                  <a:srgbClr val="132023"/>
                </a:solidFill>
              </a:rPr>
              <a:t>turbalance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FC3C0-792C-4ADC-ADE1-D53F500A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07B72"/>
                </a:solidFill>
              </a:defRPr>
            </a:pPr>
            <a:r>
              <a:rPr sz="900" b="1">
                <a:solidFill>
                  <a:srgbClr val="007B72"/>
                </a:solidFill>
              </a:rPr>
              <a:t>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E2031-1153-4C16-9FF8-15B6C42B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581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32023"/>
                </a:solidFill>
              </a:defRPr>
            </a:pPr>
            <a:r>
              <a:rPr sz="3450" b="1">
                <a:solidFill>
                  <a:srgbClr val="132023"/>
                </a:solidFill>
              </a:rPr>
              <a:t>Current product appliance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3CF9C-3AE0-417F-997C-DCD687F3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6646A"/>
                </a:solidFill>
              </a:defRPr>
            </a:pPr>
            <a:r>
              <a:rPr sz="1650">
                <a:solidFill>
                  <a:srgbClr val="56646A"/>
                </a:solidFill>
              </a:rPr>
              <a:t>Live browser cockpit, mouse-enabled terminal UI, secured collector/API edge, Grafana/Prometheus runtime, SPARK + Pi fleet rollout, and lakehouse production lane.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C3EA4-26EA-41F9-A313-92D2495E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1676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BFA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5E79B-5B6C-4F02-8D91-0D278E9F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023"/>
                </a:solidFill>
              </a:defRPr>
            </a:pPr>
            <a:r>
              <a:rPr sz="2400" b="1">
                <a:solidFill>
                  <a:srgbClr val="132023"/>
                </a:solidFill>
              </a:rPr>
              <a:t>NUC14E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37DB9-5B34-4014-AE1A-10535F98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6646A"/>
                </a:solidFill>
              </a:defRPr>
            </a:pPr>
            <a:r>
              <a:rPr sz="900" b="1">
                <a:solidFill>
                  <a:srgbClr val="56646A"/>
                </a:solidFill>
              </a:rPr>
              <a:t>controller-centered 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72A31-C590-4009-B838-528BEFCF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95650"/>
            <a:ext cx="1676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BFA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543EF-6499-4997-B2DE-CC3A3E5E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480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32023"/>
                </a:solidFill>
              </a:defRPr>
            </a:pPr>
            <a:r>
              <a:rPr sz="2400" b="1">
                <a:solidFill>
                  <a:srgbClr val="132023"/>
                </a:solidFill>
              </a:rPr>
              <a:t>15+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44F4C-65CB-4155-A0E0-C2B2F789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481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46A"/>
                </a:solidFill>
              </a:defRPr>
            </a:pPr>
            <a:r>
              <a:rPr sz="900" b="1">
                <a:solidFill>
                  <a:srgbClr val="56646A"/>
                </a:solidFill>
              </a:rPr>
              <a:t>fleet hosts observed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8EBC5-B85B-4738-9D7A-C5884B1D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95650"/>
            <a:ext cx="21526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BFA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CCDF9-2E3D-4DA7-8891-F0173427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48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32023"/>
                </a:solidFill>
              </a:defRPr>
            </a:pPr>
            <a:r>
              <a:rPr sz="2400" b="1">
                <a:solidFill>
                  <a:srgbClr val="132023"/>
                </a:solidFill>
              </a:rPr>
              <a:t>web + TUI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80DA9-AD44-4F9A-AA03-37CE10AE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46A"/>
                </a:solidFill>
              </a:defRPr>
            </a:pPr>
            <a:r>
              <a:rPr sz="900" b="1">
                <a:solidFill>
                  <a:srgbClr val="56646A"/>
                </a:solidFill>
              </a:rPr>
              <a:t>operator surfaces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8458E-5084-4855-BE6E-FB064229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742950"/>
            <a:ext cx="47434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8FBFB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e352558f24723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781050"/>
            <a:ext cx="4667250" cy="28003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04B24-116E-4E09-AD4D-F31C0B62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86200"/>
            <a:ext cx="47434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8FBFB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24753b1194ab0"/>
          <a:srcRect xmlns:a="http://schemas.openxmlformats.org/drawingml/2006/main" l="0" t="10399" r="0" b="103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3924300"/>
            <a:ext cx="4667250" cy="2171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8F40B8-F068-444D-9FA3-7C15176A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B878C"/>
                </a:solidFill>
              </a:defRPr>
            </a:pPr>
            <a:r>
              <a:rPr sz="750">
                <a:solidFill>
                  <a:srgbClr val="7B878C"/>
                </a:solidFill>
              </a:rPr>
              <a:t>Updated Jun 18, 2026 · 1/8</a:t>
            </a:r>
          </a:p>
        </p:txBody>
      </p:sp>
    </p:spTree>
    <p:extLst>
      <p:ext uri="{BB962C8B-B14F-4D97-AF65-F5344CB8AC3E}">
        <p14:creationId xmlns:p14="http://schemas.microsoft.com/office/powerpoint/2010/main" val="1335678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772F91-F86B-4499-B46A-DA9C7734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7B72"/>
                </a:solidFill>
              </a:defRPr>
            </a:pPr>
            <a:r>
              <a:rPr sz="975" b="1">
                <a:solidFill>
                  <a:srgbClr val="007B72"/>
                </a:solidFill>
              </a:rPr>
              <a:t>TURBALANCE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C0299-829C-4B72-B5B7-03561F20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32023"/>
                </a:solidFill>
              </a:defRPr>
            </a:pPr>
            <a:r>
              <a:rPr sz="2700" b="1">
                <a:solidFill>
                  <a:srgbClr val="132023"/>
                </a:solidFill>
              </a:rPr>
              <a:t>Operator surfaces are now connected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67108-BF6B-4C40-BD34-9A5622EB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6646A"/>
                </a:solidFill>
              </a:defRPr>
            </a:pPr>
            <a:r>
              <a:rPr sz="1200">
                <a:solidFill>
                  <a:srgbClr val="56646A"/>
                </a:solidFill>
              </a:rPr>
              <a:t>The same appliance data is visible through browser, terminal, API, observability, support, and release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5CF01-A5A0-4604-B087-2BA679E4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390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9A41C-97AB-4B2E-9001-20804626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9B5A0-8C5A-4D0D-A32E-50B36CAE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F1C4F-DA45-4112-B509-46283FE6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023"/>
                </a:solidFill>
              </a:defRPr>
            </a:pPr>
            <a:r>
              <a:rPr sz="1350" b="1">
                <a:solidFill>
                  <a:srgbClr val="132023"/>
                </a:solidFill>
              </a:rPr>
              <a:t>Live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AD962-7E13-4A64-BB99-308C82C8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6646A"/>
                </a:solidFill>
              </a:defRPr>
            </a:pPr>
            <a:r>
              <a:rPr sz="975">
                <a:solidFill>
                  <a:srgbClr val="56646A"/>
                </a:solidFill>
              </a:rPr>
              <a:t>Profile-aware topbar, host bootstrap, fleet cards, unit economics, predictive and prescriptive panels, System ID, Benchmark Ladder, and evidence packs.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B1043-8EED-45FC-BAC2-CD47565A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91F3C-94CB-467E-B8EE-4B6C7F1C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13A"/>
          </a:solidFill>
          <a:ln xmlns:a="http://schemas.openxmlformats.org/drawingml/2006/main" w="0">
            <a:solidFill>
              <a:srgbClr val="E8A1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D0FE0-B22A-46E2-A3A1-366E3B3C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023"/>
                </a:solidFill>
              </a:defRPr>
            </a:pPr>
            <a:r>
              <a:rPr sz="1350" b="1">
                <a:solidFill>
                  <a:srgbClr val="132023"/>
                </a:solidFill>
              </a:rPr>
              <a:t>turbatop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96A99-DE09-4E4F-803B-AC5E325C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6646A"/>
                </a:solidFill>
              </a:defRPr>
            </a:pPr>
            <a:r>
              <a:rPr sz="975">
                <a:solidFill>
                  <a:srgbClr val="56646A"/>
                </a:solidFill>
              </a:rPr>
              <a:t>Dependency-free Python zipapp for SSH: mouse controls, keyboard controls, pressure sorting, live bundle fallback, token-file auth, and no browser requirement.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C5B67-51B6-4685-9141-6448B41C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1B609-A1BD-4127-A5BB-2B205C52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05635-575E-4852-8F73-53CF3545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023"/>
                </a:solidFill>
              </a:defRPr>
            </a:pPr>
            <a:r>
              <a:rPr sz="1350" b="1">
                <a:solidFill>
                  <a:srgbClr val="132023"/>
                </a:solidFill>
              </a:rPr>
              <a:t>Product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FDC93-1E76-42ED-89F2-C4580746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955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6646A"/>
                </a:solidFill>
              </a:defRPr>
            </a:pPr>
            <a:r>
              <a:rPr sz="975">
                <a:solidFill>
                  <a:srgbClr val="56646A"/>
                </a:solidFill>
              </a:rPr>
              <a:t>Bearer-auth product API on :8080 plus HTTPS edge path. Prometheus uses a mounted viewer token for protected metrics.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F7431-4487-4985-9762-D228DBF7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814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D5FA5-5C4B-4E73-8479-8E6AAD01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814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13A"/>
          </a:solidFill>
          <a:ln xmlns:a="http://schemas.openxmlformats.org/drawingml/2006/main" w="0">
            <a:solidFill>
              <a:srgbClr val="E8A1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825BA-8522-49F0-9732-3829B572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528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023"/>
                </a:solidFill>
              </a:defRPr>
            </a:pPr>
            <a:r>
              <a:rPr sz="1350" b="1">
                <a:solidFill>
                  <a:srgbClr val="132023"/>
                </a:solidFill>
              </a:rPr>
              <a:t>Collector edge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C9A0E0-A29C-496A-90B6-C191C9F7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3860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6646A"/>
                </a:solidFill>
              </a:defRPr>
            </a:pPr>
            <a:r>
              <a:rPr sz="975">
                <a:solidFill>
                  <a:srgbClr val="56646A"/>
                </a:solidFill>
              </a:rPr>
              <a:t>Internal collector bearer+HMAC path on :8801 and mTLS collector edge on :9443 for customer-facing ingestion.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429D3-3C07-4773-AFF5-D5FD082B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1BC9C2-FD65-487A-8C68-C322EADF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531031-85A3-40F9-A4C2-606939C0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098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023"/>
                </a:solidFill>
              </a:defRPr>
            </a:pPr>
            <a:r>
              <a:rPr sz="1350" b="1">
                <a:solidFill>
                  <a:srgbClr val="132023"/>
                </a:solidFill>
              </a:rPr>
              <a:t>Observability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59EC1B-D07D-49B3-8086-374EFAEA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955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6646A"/>
                </a:solidFill>
              </a:defRPr>
            </a:pPr>
            <a:r>
              <a:rPr sz="975">
                <a:solidFill>
                  <a:srgbClr val="56646A"/>
                </a:solidFill>
              </a:rPr>
              <a:t>Grafana and Prometheus runtime stack with handoff URLs, target checks, dashboard coverage, and doctor validation.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67E332-0ADD-4EA8-9C23-D1BE1E2D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14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EECBBA-4857-44EE-ABFB-28596774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14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13A"/>
          </a:solidFill>
          <a:ln xmlns:a="http://schemas.openxmlformats.org/drawingml/2006/main" w="0">
            <a:solidFill>
              <a:srgbClr val="E8A1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9153F9-75D1-4799-9BB3-B38F1063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528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023"/>
                </a:solidFill>
              </a:defRPr>
            </a:pPr>
            <a:r>
              <a:rPr sz="1350" b="1">
                <a:solidFill>
                  <a:srgbClr val="132023"/>
                </a:solidFill>
              </a:rPr>
              <a:t>Support and release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926BDE-E8DB-4D59-9533-BC1911A0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3860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6646A"/>
                </a:solidFill>
              </a:defRPr>
            </a:pPr>
            <a:r>
              <a:rPr sz="975">
                <a:solidFill>
                  <a:srgbClr val="56646A"/>
                </a:solidFill>
              </a:rPr>
              <a:t>Redacted support bundles, release packages, rollback state, doctor checks, and sync/rebuild paths for NUC, SPARK, and Pi machines.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3ECF70-5549-47DC-95ED-6B3A4077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B878C"/>
                </a:solidFill>
              </a:defRPr>
            </a:pPr>
            <a:r>
              <a:rPr sz="750">
                <a:solidFill>
                  <a:srgbClr val="7B878C"/>
                </a:solidFill>
              </a:rPr>
              <a:t>Updated Jun 18, 2026 · 2/8</a:t>
            </a:r>
          </a:p>
        </p:txBody>
      </p:sp>
    </p:spTree>
    <p:extLst>
      <p:ext uri="{BB962C8B-B14F-4D97-AF65-F5344CB8AC3E}">
        <p14:creationId xmlns:p14="http://schemas.microsoft.com/office/powerpoint/2010/main" val="3837618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FA025A-BDD4-4E0F-82E1-C2A6FCA7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7B72"/>
                </a:solidFill>
              </a:defRPr>
            </a:pPr>
            <a:r>
              <a:rPr sz="975" b="1">
                <a:solidFill>
                  <a:srgbClr val="007B72"/>
                </a:solidFill>
              </a:rPr>
              <a:t>TURBALANCE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39E4C-EBD7-47FF-9263-E98D6ECF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32023"/>
                </a:solidFill>
              </a:defRPr>
            </a:pPr>
            <a:r>
              <a:rPr sz="2550" b="1">
                <a:solidFill>
                  <a:srgbClr val="132023"/>
                </a:solidFill>
              </a:rPr>
              <a:t>Browser cockpit: live and profile-aware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74DCE-4564-4B0D-82A6-E04C74BB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6646A"/>
                </a:solidFill>
              </a:defRPr>
            </a:pPr>
            <a:r>
              <a:rPr sz="1200">
                <a:solidFill>
                  <a:srgbClr val="56646A"/>
                </a:solidFill>
              </a:rPr>
              <a:t>README screenshots refreshed from the live NUC14E and NUC15 dashboard endpoints.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FB83F-2546-4494-9DE0-6CD765F4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390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4A426-BE81-411C-A774-2E7F7CE8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521970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F8FBFB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2d23de8674817"/>
          <a:srcRect xmlns:a="http://schemas.openxmlformats.org/drawingml/2006/main" l="0" t="1389" r="0" b="13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076450"/>
            <a:ext cx="5143500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D75A6-7203-4010-BF7F-2F2DD559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521970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F8FBFB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593db1ebc4d02"/>
          <a:srcRect xmlns:a="http://schemas.openxmlformats.org/drawingml/2006/main" l="0" t="1389" r="0" b="13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2076450"/>
            <a:ext cx="5143500" cy="3333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42FD0-6CE2-4EFA-94B7-8A8A0955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57850"/>
            <a:ext cx="16573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F7F1"/>
          </a:solidFill>
          <a:ln xmlns:a="http://schemas.openxmlformats.org/drawingml/2006/main" w="9525">
            <a:solidFill>
              <a:srgbClr val="009B8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5C646-482C-4559-8A64-9B8848C3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435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9B8E"/>
                </a:solidFill>
              </a:defRPr>
            </a:pPr>
            <a:r>
              <a:rPr sz="975" b="1">
                <a:solidFill>
                  <a:srgbClr val="009B8E"/>
                </a:solidFill>
              </a:rPr>
              <a:t>live host bootstrap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5E74F-794B-4DA1-B749-1B9630DD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57850"/>
            <a:ext cx="13525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007B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CD8B8-1E63-41EE-BBA3-7EC45C47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74357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7B72"/>
                </a:solidFill>
              </a:defRPr>
            </a:pPr>
            <a:r>
              <a:rPr sz="975" b="1">
                <a:solidFill>
                  <a:srgbClr val="007B72"/>
                </a:solidFill>
              </a:rPr>
              <a:t>visible blocks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A3C93-F2D3-4339-9AC7-896782C5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57850"/>
            <a:ext cx="1447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F7F1"/>
          </a:solidFill>
          <a:ln xmlns:a="http://schemas.openxmlformats.org/drawingml/2006/main" w="9525">
            <a:solidFill>
              <a:srgbClr val="009B8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194A4-4C74-4082-94BD-872BEDA7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435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9B8E"/>
                </a:solidFill>
              </a:defRPr>
            </a:pPr>
            <a:r>
              <a:rPr sz="975" b="1">
                <a:solidFill>
                  <a:srgbClr val="009B8E"/>
                </a:solidFill>
              </a:rPr>
              <a:t>profile topbar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03E04-65B3-43CB-BC8C-BD6F3AF4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657850"/>
            <a:ext cx="1981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007B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264C1-8717-4D74-9EA2-BB4E9C06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43575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7B72"/>
                </a:solidFill>
              </a:defRPr>
            </a:pPr>
            <a:r>
              <a:rPr sz="975" b="1">
                <a:solidFill>
                  <a:srgbClr val="007B72"/>
                </a:solidFill>
              </a:rPr>
              <a:t>multi-machine bundles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05CCFC-8D32-4D3F-898B-3D7581A6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B878C"/>
                </a:solidFill>
              </a:defRPr>
            </a:pPr>
            <a:r>
              <a:rPr sz="750">
                <a:solidFill>
                  <a:srgbClr val="7B878C"/>
                </a:solidFill>
              </a:rPr>
              <a:t>Updated Jun 18, 2026 · 3/8</a:t>
            </a:r>
          </a:p>
        </p:txBody>
      </p:sp>
    </p:spTree>
    <p:extLst>
      <p:ext uri="{BB962C8B-B14F-4D97-AF65-F5344CB8AC3E}">
        <p14:creationId xmlns:p14="http://schemas.microsoft.com/office/powerpoint/2010/main" val="19155950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18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69032E-3E36-4C21-AC88-3E8FA749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5F7FB"/>
                </a:solidFill>
              </a:defRPr>
            </a:pPr>
            <a:r>
              <a:rPr sz="2550" b="1">
                <a:solidFill>
                  <a:srgbClr val="F5F7FB"/>
                </a:solidFill>
              </a:rPr>
              <a:t>turbatop terminal 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A9D1C-46B5-4A4D-B02C-1EDA0A52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B8C2CC"/>
                </a:solidFill>
              </a:defRPr>
            </a:pPr>
            <a:r>
              <a:rPr sz="1350">
                <a:solidFill>
                  <a:srgbClr val="B8C2CC"/>
                </a:solidFill>
              </a:rPr>
              <a:t>Mouse-enabled operator view for SSH, air-gapped labs, and fast incident checks.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1CD4A-5FCC-4B15-BA4B-019C8148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760095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8FBFB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0ba96e1c0409e"/>
          <a:srcRect xmlns:a="http://schemas.openxmlformats.org/drawingml/2006/main" l="0" t="13" r="0" b="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428750"/>
            <a:ext cx="7524750" cy="4419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50CDA-26D9-4D5B-B32E-080F3430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09700"/>
            <a:ext cx="28956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35EF9-8593-4B52-B31F-4F1F56AC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0970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2BE2D-9AC1-4E6E-98A1-D99EE5D7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811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023"/>
                </a:solidFill>
              </a:defRPr>
            </a:pPr>
            <a:r>
              <a:rPr sz="1350" b="1">
                <a:solidFill>
                  <a:srgbClr val="132023"/>
                </a:solidFill>
              </a:rPr>
              <a:t>Mouse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410F7-1FA1-46F3-89DB-A9153D7F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669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6646A"/>
                </a:solidFill>
              </a:defRPr>
            </a:pPr>
            <a:r>
              <a:rPr sz="900">
                <a:solidFill>
                  <a:srgbClr val="56646A"/>
                </a:solidFill>
              </a:rPr>
              <a:t>Click a host to select, click again or right-click to drill in, use the wheel to move selection, and click footer/header controls for sort, scope, filter, refresh, and quit.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78949-2769-441D-9F34-BA73F8D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8956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3DFD9-9089-4AF0-9EDB-DF3427C3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476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13A"/>
          </a:solidFill>
          <a:ln xmlns:a="http://schemas.openxmlformats.org/drawingml/2006/main" w="0">
            <a:solidFill>
              <a:srgbClr val="E8A1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F3481-4445-4960-98A4-82CC1FB6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04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023"/>
                </a:solidFill>
              </a:defRPr>
            </a:pPr>
            <a:r>
              <a:rPr sz="1350" b="1">
                <a:solidFill>
                  <a:srgbClr val="132023"/>
                </a:solidFill>
              </a:rPr>
              <a:t>Fleet-aware rendering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4CD4F-67C4-4E90-8674-B1CE1641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86150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6646A"/>
                </a:solidFill>
              </a:defRPr>
            </a:pPr>
            <a:r>
              <a:rPr sz="900">
                <a:solidFill>
                  <a:srgbClr val="56646A"/>
                </a:solidFill>
              </a:rPr>
              <a:t>Summary strip, natural host ordering, scroll-aware ranges, pressure/GPU/CPU/RAM/network/status sorts, trend sparklines, and confidence gauges.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CB6B6-D1FE-4154-9023-28B22323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10100"/>
            <a:ext cx="28956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7C7F2-557A-4890-A803-CA016274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1010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71511-6705-4458-B540-E55B3A22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023"/>
                </a:solidFill>
              </a:defRPr>
            </a:pPr>
            <a:r>
              <a:rPr sz="1350" b="1">
                <a:solidFill>
                  <a:srgbClr val="132023"/>
                </a:solidFill>
              </a:rPr>
              <a:t>Graceful 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560FE-1133-4ED9-A8CF-02085A94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673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6646A"/>
                </a:solidFill>
              </a:defRPr>
            </a:pPr>
            <a:r>
              <a:rPr sz="900">
                <a:solidFill>
                  <a:srgbClr val="56646A"/>
                </a:solidFill>
              </a:rPr>
              <a:t>Read-only API client, token-file support, live-bundle fallback when auth/host rows fail, tiny-terminal message, NO_COLOR, --once snapshots, and --no-mouse opt-out.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65391-2C37-48D0-AF40-1A114810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B878C"/>
                </a:solidFill>
              </a:defRPr>
            </a:pPr>
            <a:r>
              <a:rPr sz="750">
                <a:solidFill>
                  <a:srgbClr val="7B878C"/>
                </a:solidFill>
              </a:rPr>
              <a:t>Updated Jun 18, 2026 · 4/8</a:t>
            </a:r>
          </a:p>
        </p:txBody>
      </p:sp>
    </p:spTree>
    <p:extLst>
      <p:ext uri="{BB962C8B-B14F-4D97-AF65-F5344CB8AC3E}">
        <p14:creationId xmlns:p14="http://schemas.microsoft.com/office/powerpoint/2010/main" val="4702343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E54C11-D0FB-4D0A-BB1E-BE9A71C3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7B72"/>
                </a:solidFill>
              </a:defRPr>
            </a:pPr>
            <a:r>
              <a:rPr sz="975" b="1">
                <a:solidFill>
                  <a:srgbClr val="007B72"/>
                </a:solidFill>
              </a:rPr>
              <a:t>TURBALANCE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A2638-4FFA-4FB7-8438-38EF4A5A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32023"/>
                </a:solidFill>
              </a:defRPr>
            </a:pPr>
            <a:r>
              <a:rPr sz="2700" b="1">
                <a:solidFill>
                  <a:srgbClr val="132023"/>
                </a:solidFill>
              </a:rPr>
              <a:t>Bare-metal appliance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6BFD7-2090-43FA-9683-3504B199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6646A"/>
                </a:solidFill>
              </a:defRPr>
            </a:pPr>
            <a:r>
              <a:rPr sz="1200">
                <a:solidFill>
                  <a:srgbClr val="56646A"/>
                </a:solidFill>
              </a:rPr>
              <a:t>One controller coordinates telemetry, API, dashboard, observability, support bundles, and fleet agent rollout.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FD626-7EC9-4E0A-B2EA-F5BAB755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390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7BED2-B160-40A6-9156-0D119EB5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714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B"/>
          </a:solidFill>
          <a:ln xmlns:a="http://schemas.openxmlformats.org/drawingml/2006/main" w="9525">
            <a:solidFill>
              <a:srgbClr val="E8A1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3000F-3B80-48F9-944E-679B0448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32023"/>
                </a:solidFill>
              </a:defRPr>
            </a:pPr>
            <a:r>
              <a:rPr sz="1275" b="1">
                <a:solidFill>
                  <a:srgbClr val="132023"/>
                </a:solidFill>
              </a:rPr>
              <a:t>SPARK1 / SPARK2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F6E18-6C6B-432B-96FF-381C97F2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714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B"/>
          </a:solidFill>
          <a:ln xmlns:a="http://schemas.openxmlformats.org/drawingml/2006/main" w="9525">
            <a:solidFill>
              <a:srgbClr val="E8A1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43F4D-1BEA-4049-B3A9-3779F905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32023"/>
                </a:solidFill>
              </a:defRPr>
            </a:pPr>
            <a:r>
              <a:rPr sz="1275" b="1">
                <a:solidFill>
                  <a:srgbClr val="132023"/>
                </a:solidFill>
              </a:rPr>
              <a:t>pi1..pi12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77691-A66A-41FD-AE0E-6181AA76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035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B"/>
          </a:solidFill>
          <a:ln xmlns:a="http://schemas.openxmlformats.org/drawingml/2006/main" w="9525">
            <a:solidFill>
              <a:srgbClr val="009B8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CB348-8CE5-44AB-8F12-625C0CE7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7180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32023"/>
                </a:solidFill>
              </a:defRPr>
            </a:pPr>
            <a:r>
              <a:rPr sz="1275" b="1">
                <a:solidFill>
                  <a:srgbClr val="132023"/>
                </a:solidFill>
              </a:rPr>
              <a:t>Live 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01B75-AC47-41EA-8E5A-FFDDB617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3360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BFB"/>
          </a:solidFill>
          <a:ln xmlns:a="http://schemas.openxmlformats.org/drawingml/2006/main" w="9525">
            <a:solidFill>
              <a:srgbClr val="009B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6F6C0-D1AD-45D4-91A5-6135E99D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0505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32023"/>
                </a:solidFill>
              </a:defRPr>
            </a:pPr>
            <a:r>
              <a:rPr sz="1275" b="1">
                <a:solidFill>
                  <a:srgbClr val="132023"/>
                </a:solidFill>
              </a:rPr>
              <a:t>Collector gateway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32023"/>
                </a:solidFill>
              </a:defRPr>
            </a:pPr>
            <a:r>
              <a:rPr sz="1275" b="1">
                <a:solidFill>
                  <a:srgbClr val="132023"/>
                </a:solidFill>
              </a:rPr>
              <a:t>:8801 + HMAC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CE05F-79C1-4B73-AFBF-AC968A03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6235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BFB"/>
          </a:solidFill>
          <a:ln xmlns:a="http://schemas.openxmlformats.org/drawingml/2006/main" w="9525">
            <a:solidFill>
              <a:srgbClr val="007B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753F3-BCD5-4AE4-B2D4-E5D60A1A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3380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32023"/>
                </a:solidFill>
              </a:defRPr>
            </a:pPr>
            <a:r>
              <a:rPr sz="1275" b="1">
                <a:solidFill>
                  <a:srgbClr val="132023"/>
                </a:solidFill>
              </a:rPr>
              <a:t>mTLS edge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32023"/>
                </a:solidFill>
              </a:defRPr>
            </a:pPr>
            <a:r>
              <a:rPr sz="1275" b="1">
                <a:solidFill>
                  <a:srgbClr val="132023"/>
                </a:solidFill>
              </a:rPr>
              <a:t>:9443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30DD1-5634-4940-900D-361D19AE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3360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BFB"/>
          </a:solidFill>
          <a:ln xmlns:a="http://schemas.openxmlformats.org/drawingml/2006/main" w="9525">
            <a:solidFill>
              <a:srgbClr val="009B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E6BF1-484A-44C7-8E88-E76DAF6C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0505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32023"/>
                </a:solidFill>
              </a:defRPr>
            </a:pPr>
            <a:r>
              <a:rPr sz="1275" b="1">
                <a:solidFill>
                  <a:srgbClr val="132023"/>
                </a:solidFill>
              </a:rPr>
              <a:t>Parquet / DuckDB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71C82-18EB-47D4-B38E-977B3FF3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6235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BFB"/>
          </a:solidFill>
          <a:ln xmlns:a="http://schemas.openxmlformats.org/drawingml/2006/main" w="9525">
            <a:solidFill>
              <a:srgbClr val="007B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7E3CF-133D-4458-B3AC-AEB0EAE8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3380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32023"/>
                </a:solidFill>
              </a:defRPr>
            </a:pPr>
            <a:r>
              <a:rPr sz="1275" b="1">
                <a:solidFill>
                  <a:srgbClr val="132023"/>
                </a:solidFill>
              </a:rPr>
              <a:t>Product API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32023"/>
                </a:solidFill>
              </a:defRPr>
            </a:pPr>
            <a:r>
              <a:rPr sz="1275" b="1">
                <a:solidFill>
                  <a:srgbClr val="132023"/>
                </a:solidFill>
              </a:rPr>
              <a:t>:8080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19826-32DF-4163-ACEE-4F603214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003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B"/>
          </a:solidFill>
          <a:ln xmlns:a="http://schemas.openxmlformats.org/drawingml/2006/main" w="9525">
            <a:solidFill>
              <a:srgbClr val="E8A1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323BA-4F8C-4D2F-8F84-D8A4610E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7180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32023"/>
                </a:solidFill>
              </a:defRPr>
            </a:pPr>
            <a:r>
              <a:rPr sz="1275" b="1">
                <a:solidFill>
                  <a:srgbClr val="132023"/>
                </a:solidFill>
              </a:rPr>
              <a:t>Dashboard + turbatop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D91FD-4E1B-4013-B4F1-E2B96954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00325"/>
            <a:ext cx="609600" cy="4857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9B8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A3B21-B5D2-4B20-A5FC-19A7D8E9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24275"/>
            <a:ext cx="609600" cy="-4476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9B8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4EC66-432D-4B4E-A85B-D09033B4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81350"/>
            <a:ext cx="571500" cy="-6286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9B8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916F9E-3EAE-4378-800E-3E7495AF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81350"/>
            <a:ext cx="571500" cy="8001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9B8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B6D16E-43E7-48E6-A8ED-C54CE955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5270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9B8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C8A510-B9D2-4AB5-BA2A-BB31AD9B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8145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9B8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58BAF1-E069-4039-BB69-DC27184A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81450"/>
            <a:ext cx="571500" cy="-8001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9B8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283932-2BFA-4BB0-9C0F-194D78CF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52700"/>
            <a:ext cx="571500" cy="6286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9B8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71C783-E7EA-4968-A0CA-DD97AD1E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11A5AC-B83A-4B84-B6F9-8E43F221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32023"/>
                </a:solidFill>
              </a:defRPr>
            </a:pPr>
            <a:r>
              <a:rPr sz="1200">
                <a:solidFill>
                  <a:srgbClr val="132023"/>
                </a:solidFill>
              </a:rPr>
              <a:t>Runtime services are managed by user systemd on NUC14E with lingering enabled.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CEDB40-DB8A-4B60-A795-88283078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C7F68B-5E3D-4DBC-8FFA-CCBADFA1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32023"/>
                </a:solidFill>
              </a:defRPr>
            </a:pPr>
            <a:r>
              <a:rPr sz="1200">
                <a:solidFill>
                  <a:srgbClr val="132023"/>
                </a:solidFill>
              </a:rPr>
              <a:t>Grafana/Prometheus and product edge run as runtime containers.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556D0B-CC3A-47DB-BD1B-B9F856A6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493BA8-F39A-485C-982D-5E5CBE24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340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132023"/>
                </a:solidFill>
              </a:defRPr>
            </a:pPr>
            <a:r>
              <a:rPr sz="1200">
                <a:solidFill>
                  <a:srgbClr val="132023"/>
                </a:solidFill>
              </a:rPr>
              <a:t>SPARK and Pi source copies are synced without service restarts for TUI-only changes.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59C596-6A69-42E3-8446-FF7540C4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B878C"/>
                </a:solidFill>
              </a:defRPr>
            </a:pPr>
            <a:r>
              <a:rPr sz="750">
                <a:solidFill>
                  <a:srgbClr val="7B878C"/>
                </a:solidFill>
              </a:rPr>
              <a:t>Updated Jun 18, 2026 · 5/8</a:t>
            </a:r>
          </a:p>
        </p:txBody>
      </p:sp>
    </p:spTree>
    <p:extLst>
      <p:ext uri="{BB962C8B-B14F-4D97-AF65-F5344CB8AC3E}">
        <p14:creationId xmlns:p14="http://schemas.microsoft.com/office/powerpoint/2010/main" val="19265526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8BEB72-712D-49F2-ABF7-591B8D8C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7B72"/>
                </a:solidFill>
              </a:defRPr>
            </a:pPr>
            <a:r>
              <a:rPr sz="975" b="1">
                <a:solidFill>
                  <a:srgbClr val="007B72"/>
                </a:solidFill>
              </a:rPr>
              <a:t>TURBALANCE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31F6F-177D-4636-A8E5-5D4F8E80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32023"/>
                </a:solidFill>
              </a:defRPr>
            </a:pPr>
            <a:r>
              <a:rPr sz="2550" b="1">
                <a:solidFill>
                  <a:srgbClr val="132023"/>
                </a:solidFill>
              </a:rPr>
              <a:t>Security and productization gates are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9AE9E-C4EF-4FB1-ACA8-4B96056D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6646A"/>
                </a:solidFill>
              </a:defRPr>
            </a:pPr>
            <a:r>
              <a:rPr sz="1200">
                <a:solidFill>
                  <a:srgbClr val="56646A"/>
                </a:solidFill>
              </a:rPr>
              <a:t>Secrets, collector ingress, support bundles, and audit checks are first-class release material.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CB23D-09B6-49AA-8293-A7AD35D9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390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51DDA-AEFC-4A49-845B-A0F5CE70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A2D3A-13E3-4D66-B8AE-393C2F94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1B728-DB92-46F0-A09D-BDC4BE62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023"/>
                </a:solidFill>
              </a:defRPr>
            </a:pPr>
            <a:r>
              <a:rPr sz="1350" b="1">
                <a:solidFill>
                  <a:srgbClr val="132023"/>
                </a:solidFill>
              </a:rPr>
              <a:t>Auth and secret files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F8B1F-DCF1-4625-869B-B175DAE8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6646A"/>
                </a:solidFill>
              </a:defRPr>
            </a:pPr>
            <a:r>
              <a:rPr sz="975">
                <a:solidFill>
                  <a:srgbClr val="56646A"/>
                </a:solidFill>
              </a:rPr>
              <a:t>API auth uses generated token files; collector bearer and HMAC secrets are loaded from files rather than command-line values.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516D1-EEAE-4F0E-9411-55605A1E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98538-58FA-4527-BF34-DC3DF654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13A"/>
          </a:solidFill>
          <a:ln xmlns:a="http://schemas.openxmlformats.org/drawingml/2006/main" w="0">
            <a:solidFill>
              <a:srgbClr val="E8A1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1F660-52A5-4D7E-A14F-99491A28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023"/>
                </a:solidFill>
              </a:defRPr>
            </a:pPr>
            <a:r>
              <a:rPr sz="1350" b="1">
                <a:solidFill>
                  <a:srgbClr val="132023"/>
                </a:solidFill>
              </a:rPr>
              <a:t>mTLS collector edge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2A95E-AAE0-423B-95B5-4FAC6A25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6646A"/>
                </a:solidFill>
              </a:defRPr>
            </a:pPr>
            <a:r>
              <a:rPr sz="975">
                <a:solidFill>
                  <a:srgbClr val="56646A"/>
                </a:solidFill>
              </a:rPr>
              <a:t>HTTPS edge on :8443 and collector mTLS edge on :9443 separate browser/API traffic from customer-ingest traffic.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C67C7-E544-4CCC-8D9F-56B7D2CE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E143B-DCB8-4BFE-8A2C-DD9DBBD1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9960C-CED0-497E-B084-740ABDAA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023"/>
                </a:solidFill>
              </a:defRPr>
            </a:pPr>
            <a:r>
              <a:rPr sz="1350" b="1">
                <a:solidFill>
                  <a:srgbClr val="132023"/>
                </a:solidFill>
              </a:rPr>
              <a:t>Support bundles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5F8BA-A3F7-4F59-BDAA-2AAD68A1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6646A"/>
                </a:solidFill>
              </a:defRPr>
            </a:pPr>
            <a:r>
              <a:rPr sz="975">
                <a:solidFill>
                  <a:srgbClr val="56646A"/>
                </a:solidFill>
              </a:rPr>
              <a:t>Redacted archives include diagnostics and remote checks while excluding generated secrets and TLS material.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D65F79-E193-4EF7-92C2-FC7935C1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385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B1C42-F261-44E0-B67F-5F3838B7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385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13A"/>
          </a:solidFill>
          <a:ln xmlns:a="http://schemas.openxmlformats.org/drawingml/2006/main" w="0">
            <a:solidFill>
              <a:srgbClr val="E8A1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78613C-1924-4C7A-9869-ED813300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100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023"/>
                </a:solidFill>
              </a:defRPr>
            </a:pPr>
            <a:r>
              <a:rPr sz="1350" b="1">
                <a:solidFill>
                  <a:srgbClr val="132023"/>
                </a:solidFill>
              </a:rPr>
              <a:t>Audit integrity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09598-1839-4C50-AF5A-A372F920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957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6646A"/>
                </a:solidFill>
              </a:defRPr>
            </a:pPr>
            <a:r>
              <a:rPr sz="975">
                <a:solidFill>
                  <a:srgbClr val="56646A"/>
                </a:solidFill>
              </a:rPr>
              <a:t>Productization phase tests validate the turbatop build/docs, security posture docs, release paths, and phase gates.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2EAC2-43D4-467C-B232-E0AB1B2F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B23767-75FD-4BFE-9909-E4B8FBF9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84E"/>
          </a:solidFill>
          <a:ln xmlns:a="http://schemas.openxmlformats.org/drawingml/2006/main" w="0">
            <a:solidFill>
              <a:srgbClr val="E0584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BE9AE-4484-426F-A52F-2102A889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023"/>
                </a:solidFill>
              </a:defRPr>
            </a:pPr>
            <a:r>
              <a:rPr sz="1350" b="1">
                <a:solidFill>
                  <a:srgbClr val="132023"/>
                </a:solidFill>
              </a:rPr>
              <a:t>Credential rotation note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F6C042-0623-412A-B28C-25E5A4DC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5270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6646A"/>
                </a:solidFill>
              </a:defRPr>
            </a:pPr>
            <a:r>
              <a:rPr sz="900">
                <a:solidFill>
                  <a:srgbClr val="56646A"/>
                </a:solidFill>
              </a:rPr>
              <a:t>History rewrites do not neutralize leaked material outside this repo. Rotation remains the true close-out for exposed bearer/HMAC/queue credentials.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308981-BD03-4B94-9113-64E4B1DD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5B0E12-6C6A-42A4-A9C7-EAA3F60E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344266-6F03-4607-9BD6-3581D9B3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100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023"/>
                </a:solidFill>
              </a:defRPr>
            </a:pPr>
            <a:r>
              <a:rPr sz="1350" b="1">
                <a:solidFill>
                  <a:srgbClr val="132023"/>
                </a:solidFill>
              </a:rPr>
              <a:t>Operator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69B822-95D6-4004-B57E-9E0767BC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957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6646A"/>
                </a:solidFill>
              </a:defRPr>
            </a:pPr>
            <a:r>
              <a:rPr sz="975">
                <a:solidFill>
                  <a:srgbClr val="56646A"/>
                </a:solidFill>
              </a:rPr>
              <a:t>The UI marks demo/live state, workspace exports carry data-boundary metadata, and production flows require validated bundles or API feeds.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7CF9AB-1777-4F7E-8AFA-AB44FCC2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B878C"/>
                </a:solidFill>
              </a:defRPr>
            </a:pPr>
            <a:r>
              <a:rPr sz="750">
                <a:solidFill>
                  <a:srgbClr val="7B878C"/>
                </a:solidFill>
              </a:rPr>
              <a:t>Updated Jun 18, 2026 · 6/8</a:t>
            </a:r>
          </a:p>
        </p:txBody>
      </p:sp>
    </p:spTree>
    <p:extLst>
      <p:ext uri="{BB962C8B-B14F-4D97-AF65-F5344CB8AC3E}">
        <p14:creationId xmlns:p14="http://schemas.microsoft.com/office/powerpoint/2010/main" val="3986186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E1B452-31EE-4684-BFFF-A5D8F242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7B72"/>
                </a:solidFill>
              </a:defRPr>
            </a:pPr>
            <a:r>
              <a:rPr sz="975" b="1">
                <a:solidFill>
                  <a:srgbClr val="007B72"/>
                </a:solidFill>
              </a:rPr>
              <a:t>TURBALANCE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F7702-6D4C-4723-BCB7-4C7B1121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32023"/>
                </a:solidFill>
              </a:defRPr>
            </a:pPr>
            <a:r>
              <a:rPr sz="2550" b="1">
                <a:solidFill>
                  <a:srgbClr val="132023"/>
                </a:solidFill>
              </a:rPr>
              <a:t>Lakehouse and OCP lane remain connected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96D19-7435-485C-95D2-7E5A1C21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6646A"/>
                </a:solidFill>
              </a:defRPr>
            </a:pPr>
            <a:r>
              <a:rPr sz="1200">
                <a:solidFill>
                  <a:srgbClr val="56646A"/>
                </a:solidFill>
              </a:rPr>
              <a:t>The appliance is the pilot surface; durable platform and benchmark-governance paths stay alive.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B4038-595C-4563-89C7-45B6052D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390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B4146-01FE-45AE-9C72-DF62F3E4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CB0DB-CC25-471B-9AA5-C8AFFED1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CB265-8776-4658-9BF2-19DB67A7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023"/>
                </a:solidFill>
              </a:defRPr>
            </a:pPr>
            <a:r>
              <a:rPr sz="1350" b="1">
                <a:solidFill>
                  <a:srgbClr val="132023"/>
                </a:solidFill>
              </a:rPr>
              <a:t>Lakehouse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1A23E-6533-4811-A4D0-513F8F45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819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6646A"/>
                </a:solidFill>
              </a:defRPr>
            </a:pPr>
            <a:r>
              <a:rPr sz="975">
                <a:solidFill>
                  <a:srgbClr val="56646A"/>
                </a:solidFill>
              </a:rPr>
              <a:t>Collector gateway, queue/spool, raw writer, partitioned Parquet lake, DuckDB query service, transforms, alert engine, API, and Dagster checks.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6F302-2FB1-4C6A-A656-5AE41EA3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145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3E533-39D6-4037-A1B6-85748A98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145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13A"/>
          </a:solidFill>
          <a:ln xmlns:a="http://schemas.openxmlformats.org/drawingml/2006/main" w="0">
            <a:solidFill>
              <a:srgbClr val="E8A1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75BAF-AF15-4B3A-A0C9-33B22DFF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860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023"/>
                </a:solidFill>
              </a:defRPr>
            </a:pPr>
            <a:r>
              <a:rPr sz="1350" b="1">
                <a:solidFill>
                  <a:srgbClr val="132023"/>
                </a:solidFill>
              </a:rPr>
              <a:t>Production Kubernetes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7848D-31AA-4715-B827-190BF1CB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2819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6646A"/>
                </a:solidFill>
              </a:defRPr>
            </a:pPr>
            <a:r>
              <a:rPr sz="975">
                <a:solidFill>
                  <a:srgbClr val="56646A"/>
                </a:solidFill>
              </a:rPr>
              <a:t>Managed storage, metadata DB, ExternalSecret bindings, SPIRE/external-CA modes, OpenTelemetry, image signing, and go-live gates.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812CB-27C6-4A4D-A78E-E6B223AF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145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A694E-9E72-4B7D-9F52-7B42F10C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145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813DB-14FF-40BC-8E93-8EE70401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860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023"/>
                </a:solidFill>
              </a:defRPr>
            </a:pPr>
            <a:r>
              <a:rPr sz="1350" b="1">
                <a:solidFill>
                  <a:srgbClr val="132023"/>
                </a:solidFill>
              </a:rPr>
              <a:t>OCP Benchmark Commons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E0422-929A-4C19-953A-0A95A3C2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2819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6646A"/>
                </a:solidFill>
              </a:defRPr>
            </a:pPr>
            <a:r>
              <a:rPr sz="975">
                <a:solidFill>
                  <a:srgbClr val="56646A"/>
                </a:solidFill>
              </a:rPr>
              <a:t>L6 export/import boundary for member-governed cross-hardware comparison with redacted turba.ocp_benchmark_commons.v1 payloads.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50063-481D-46F5-8B9A-F1F1D33F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0055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F7F1"/>
          </a:solidFill>
          <a:ln xmlns:a="http://schemas.openxmlformats.org/drawingml/2006/main" w="9525">
            <a:solidFill>
              <a:srgbClr val="009B8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32EE7-B484-41E6-ACC0-7F7BC1D6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862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9B8E"/>
                </a:solidFill>
              </a:defRPr>
            </a:pPr>
            <a:r>
              <a:rPr sz="975" b="1">
                <a:solidFill>
                  <a:srgbClr val="009B8E"/>
                </a:solidFill>
              </a:rPr>
              <a:t>eBPF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7F5C2-447C-4345-B2E8-6FE9BB84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00550"/>
            <a:ext cx="1257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007B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300822-F998-4B12-90C0-D806CC6E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8627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7B72"/>
                </a:solidFill>
              </a:defRPr>
            </a:pPr>
            <a:r>
              <a:rPr sz="975" b="1">
                <a:solidFill>
                  <a:srgbClr val="007B72"/>
                </a:solidFill>
              </a:rPr>
              <a:t>Redfish/BMC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B14CB-0B7E-44EB-BE0F-88B87937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00550"/>
            <a:ext cx="12192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F7F1"/>
          </a:solidFill>
          <a:ln xmlns:a="http://schemas.openxmlformats.org/drawingml/2006/main" w="9525">
            <a:solidFill>
              <a:srgbClr val="009B8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C5383-E826-4F3F-8AD3-DC222542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862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9B8E"/>
                </a:solidFill>
              </a:defRPr>
            </a:pPr>
            <a:r>
              <a:rPr sz="975" b="1">
                <a:solidFill>
                  <a:srgbClr val="009B8E"/>
                </a:solidFill>
              </a:rPr>
              <a:t>NCCL traces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AE49A1-4A03-4CC6-9769-649A05AE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00550"/>
            <a:ext cx="1866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007B7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ABAF0B-5173-4C4C-B9CC-DA10B7E5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8627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7B72"/>
                </a:solidFill>
              </a:defRPr>
            </a:pPr>
            <a:r>
              <a:rPr sz="975" b="1">
                <a:solidFill>
                  <a:srgbClr val="007B72"/>
                </a:solidFill>
              </a:rPr>
              <a:t>provider SLO/billing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7343D3-D677-470B-8BB4-21A7D85D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00550"/>
            <a:ext cx="18478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F7F1"/>
          </a:solidFill>
          <a:ln xmlns:a="http://schemas.openxmlformats.org/drawingml/2006/main" w="9525">
            <a:solidFill>
              <a:srgbClr val="009B8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C14BAA-B322-46B3-9700-6EBCD7C8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862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9B8E"/>
                </a:solidFill>
              </a:defRPr>
            </a:pPr>
            <a:r>
              <a:rPr sz="975" b="1">
                <a:solidFill>
                  <a:srgbClr val="009B8E"/>
                </a:solidFill>
              </a:rPr>
              <a:t>scheduler/admission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4FBAAF-BED5-4588-A471-ED346DE4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00550"/>
            <a:ext cx="1524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007B7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876C92-02D6-4E76-B6BE-C8980B9D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4862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7B72"/>
                </a:solidFill>
              </a:defRPr>
            </a:pPr>
            <a:r>
              <a:rPr sz="975" b="1">
                <a:solidFill>
                  <a:srgbClr val="007B72"/>
                </a:solidFill>
              </a:rPr>
              <a:t>Grafana handoff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18EC52-14AE-406B-8861-C43F4F65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9590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132023"/>
                </a:solidFill>
              </a:defRPr>
            </a:pPr>
            <a:r>
              <a:rPr sz="1650">
                <a:solidFill>
                  <a:srgbClr val="132023"/>
                </a:solidFill>
              </a:rPr>
              <a:t>The result is one product story: evidence comes from real machines, survives into durable analytics, and can be packaged for customer pilots or community benchmark governance.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6730D6-6AE0-402C-A662-43288BAD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B878C"/>
                </a:solidFill>
              </a:defRPr>
            </a:pPr>
            <a:r>
              <a:rPr sz="750">
                <a:solidFill>
                  <a:srgbClr val="7B878C"/>
                </a:solidFill>
              </a:rPr>
              <a:t>Updated Jun 18, 2026 · 7/8</a:t>
            </a:r>
          </a:p>
        </p:txBody>
      </p:sp>
    </p:spTree>
    <p:extLst>
      <p:ext uri="{BB962C8B-B14F-4D97-AF65-F5344CB8AC3E}">
        <p14:creationId xmlns:p14="http://schemas.microsoft.com/office/powerpoint/2010/main" val="19554373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B3BC41-A474-4543-B9E5-40709AB6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07B72"/>
                </a:solidFill>
              </a:defRPr>
            </a:pPr>
            <a:r>
              <a:rPr sz="975" b="1">
                <a:solidFill>
                  <a:srgbClr val="007B72"/>
                </a:solidFill>
              </a:rPr>
              <a:t>TURBALANCE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AB0E8-526C-49BB-BCCF-6ACBBFAE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32023"/>
                </a:solidFill>
              </a:defRPr>
            </a:pPr>
            <a:r>
              <a:rPr sz="2700" b="1">
                <a:solidFill>
                  <a:srgbClr val="132023"/>
                </a:solidFill>
              </a:rPr>
              <a:t>Runbook: current operator commands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A6AAF-987B-4954-99A0-B6FBB6F7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6646A"/>
                </a:solidFill>
              </a:defRPr>
            </a:pPr>
            <a:r>
              <a:rPr sz="1200">
                <a:solidFill>
                  <a:srgbClr val="56646A"/>
                </a:solidFill>
              </a:rPr>
              <a:t>Browser, terminal, validation, security, rollout, and support flows are documented in one 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A8F5C-6105-4542-A4FB-049F138B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390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B8E"/>
          </a:solidFill>
          <a:ln xmlns:a="http://schemas.openxmlformats.org/drawingml/2006/main" w="0">
            <a:solidFill>
              <a:srgbClr val="009B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DFC16-B5E6-4C39-90AE-E7C9F982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66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CB4B8-C4A3-4B47-8CB4-2C51975B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7B72"/>
                </a:solidFill>
              </a:defRPr>
            </a:pPr>
            <a:r>
              <a:rPr sz="1500" b="1">
                <a:solidFill>
                  <a:srgbClr val="007B72"/>
                </a:solidFill>
              </a:rPr>
              <a:t>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C2DF4-F441-4413-94AC-914AADB7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85975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32023"/>
                </a:solidFill>
              </a:defRPr>
            </a:pPr>
            <a:r>
              <a:rPr sz="1125">
                <a:solidFill>
                  <a:srgbClr val="132023"/>
                </a:solidFill>
              </a:rPr>
              <a:t>python3 -m http.server 8000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991E3-E847-429F-88F1-33138D51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1066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6B343-7C1E-4B84-B1ED-32C6BB15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7B72"/>
                </a:solidFill>
              </a:defRPr>
            </a:pPr>
            <a:r>
              <a:rPr sz="1500" b="1">
                <a:solidFill>
                  <a:srgbClr val="007B72"/>
                </a:solidFill>
              </a:rPr>
              <a:t>turbatop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E3D1E-A76E-4B3A-A89D-559FE904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76575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32023"/>
                </a:solidFill>
              </a:defRPr>
            </a:pPr>
            <a:r>
              <a:rPr sz="1125">
                <a:solidFill>
                  <a:srgbClr val="132023"/>
                </a:solidFill>
              </a:rPr>
              <a:t>make turbatop</a:t>
            </a:r>
          </a:p>
          <a:p xmlns:a="http://schemas.openxmlformats.org/drawingml/2006/main">
            <a:pPr>
              <a:buNone/>
              <a:defRPr sz="1125">
                <a:solidFill>
                  <a:srgbClr val="132023"/>
                </a:solidFill>
              </a:defRPr>
            </a:pPr>
            <a:r>
              <a:rPr sz="1125">
                <a:solidFill>
                  <a:srgbClr val="132023"/>
                </a:solidFill>
              </a:rPr>
              <a:t>./build/turbatop/turbatop --api-url http://192.168.10.30:8080 --sort pressure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D11B4-6383-4CF0-B952-B781D257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1066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FA8D2-5A09-43A1-A5FD-B58CD54F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7B72"/>
                </a:solidFill>
              </a:defRPr>
            </a:pPr>
            <a:r>
              <a:rPr sz="1500" b="1">
                <a:solidFill>
                  <a:srgbClr val="007B72"/>
                </a:solidFill>
              </a:rPr>
              <a:t>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9F774-0B2A-4557-B581-355BEDFA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67175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32023"/>
                </a:solidFill>
              </a:defRPr>
            </a:pPr>
            <a:r>
              <a:rPr sz="1125">
                <a:solidFill>
                  <a:srgbClr val="132023"/>
                </a:solidFill>
              </a:rPr>
              <a:t>node tests/run-all.js</a:t>
            </a:r>
          </a:p>
          <a:p xmlns:a="http://schemas.openxmlformats.org/drawingml/2006/main">
            <a:pPr>
              <a:buNone/>
              <a:defRPr sz="1125">
                <a:solidFill>
                  <a:srgbClr val="132023"/>
                </a:solidFill>
              </a:defRPr>
            </a:pPr>
            <a:r>
              <a:rPr sz="1125">
                <a:solidFill>
                  <a:srgbClr val="132023"/>
                </a:solidFill>
              </a:rPr>
              <a:t>node tests/productization-phases.test.js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DC14A-5A11-4A19-BCFC-1F35E654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668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3AD34-6AD4-40FC-BB30-9F3348A0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7B72"/>
                </a:solidFill>
              </a:defRPr>
            </a:pPr>
            <a:r>
              <a:rPr sz="1500" b="1">
                <a:solidFill>
                  <a:srgbClr val="007B72"/>
                </a:solidFill>
              </a:rPr>
              <a:t>Doctor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3668B-6BC1-4682-9D8A-4EE4B78C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57775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32023"/>
                </a:solidFill>
              </a:defRPr>
            </a:pPr>
            <a:r>
              <a:rPr sz="1125">
                <a:solidFill>
                  <a:srgbClr val="132023"/>
                </a:solidFill>
              </a:rPr>
              <a:t>ssh user@192.168.10.30 'cd /home/user/turbalance-analytics &amp;&amp; node scripts/turbalance-doctor.js --config ops/turbalance-product.example.json'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BCEB8D-8D65-4555-90DE-4B0C444E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6646A"/>
                </a:solidFill>
              </a:defRPr>
            </a:pPr>
            <a:r>
              <a:rPr sz="1125">
                <a:solidFill>
                  <a:srgbClr val="56646A"/>
                </a:solidFill>
              </a:rPr>
              <a:t>Primary references: README.md, docs/customer-productization.md, docs/turbatop.md, docs/lakehouse-operations.md, docs/security-compliance-posture.md.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53BE2-2835-4142-8BD6-EAEC4DA6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7B878C"/>
                </a:solidFill>
              </a:defRPr>
            </a:pPr>
            <a:r>
              <a:rPr sz="750">
                <a:solidFill>
                  <a:srgbClr val="7B878C"/>
                </a:solidFill>
              </a:rPr>
              <a:t>Updated Jun 18, 2026 · 8/8</a:t>
            </a:r>
          </a:p>
        </p:txBody>
      </p:sp>
    </p:spTree>
    <p:extLst>
      <p:ext uri="{BB962C8B-B14F-4D97-AF65-F5344CB8AC3E}">
        <p14:creationId xmlns:p14="http://schemas.microsoft.com/office/powerpoint/2010/main" val="1780876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2026-06-18T15:39:42.8690000Z</dcterms:created>
  <dcterms:modified xsi:type="dcterms:W3CDTF">2026-06-18T15:39:42.8690000Z</dcterms:modified>
</coreProperties>
</file>